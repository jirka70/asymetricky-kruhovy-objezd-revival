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557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Obsah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983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321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109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áhlaví oddí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857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240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635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693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623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9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198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814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607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90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204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057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691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92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006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717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864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va obsah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276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ovnání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01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enom nadp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2646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0897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593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111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FFBB82-9EE6-C3E5-CDCC-ADBC99F85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CA0CEA9-D122-991E-1300-AB78657FC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BB5533-0E28-B77A-6B21-8862799C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D60932A-E61B-4F61-BB9E-653CB04A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33C3A3-64B2-9C63-7C5C-8C9C5A4E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44631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696F73-6A3B-E00E-A98B-289F72F6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F2976F-237A-4176-B52B-5F7A67CF3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B51890F-1D81-E54A-8088-B7A11F655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B24DAF7-C127-51D8-03AA-0A53CEDA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677169A-943E-445C-B5B0-80034327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AD635A1-2802-0E9F-D7BC-DAAAF694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223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A4EDBDD4-219F-40BF-951F-77379982850F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79546C3B-F47C-4D8C-B613-ACFDB5A80F3F}" type="slidenum">
              <a:rPr lang="cs-CZ" smtClean="0"/>
              <a:t>‹#›</a:t>
            </a:fld>
            <a:endParaRPr lang="cs-C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580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The Creation of Adam - Wikipedia">
            <a:extLst>
              <a:ext uri="{FF2B5EF4-FFF2-40B4-BE49-F238E27FC236}">
                <a16:creationId xmlns:a16="http://schemas.microsoft.com/office/drawing/2014/main" id="{811DDE74-6FF0-5361-2A9F-A2C9C05D81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7576" r="1979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5BDC594-D09B-3E09-B0FD-2EA998902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cs-CZ" sz="115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Obor na dosah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B88227E-3DD1-0BAE-93F5-2FBD42990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cs-CZ" sz="3200" dirty="0"/>
              <a:t>Asymetrický kruhový objezd REVIVAL</a:t>
            </a:r>
          </a:p>
        </p:txBody>
      </p:sp>
    </p:spTree>
    <p:extLst>
      <p:ext uri="{BB962C8B-B14F-4D97-AF65-F5344CB8AC3E}">
        <p14:creationId xmlns:p14="http://schemas.microsoft.com/office/powerpoint/2010/main" val="2636412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93C8-C3DA-48BB-8031-755CF77B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D3B45E-48C0-0575-B85A-6D0C951C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Hlavní myšlenka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50DB3F-9C54-8593-7187-C76DB1D25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820400" cy="4351338"/>
          </a:xfrm>
        </p:spPr>
        <p:txBody>
          <a:bodyPr>
            <a:normAutofit/>
          </a:bodyPr>
          <a:lstStyle/>
          <a:p>
            <a:r>
              <a:rPr lang="cs-CZ" sz="2400" dirty="0"/>
              <a:t>Pro uchazeče:</a:t>
            </a:r>
          </a:p>
          <a:p>
            <a:pPr lvl="1"/>
            <a:r>
              <a:rPr lang="cs-CZ" sz="2400" dirty="0"/>
              <a:t>Pomoc nastupujícím středoškolákům s výběrem školy</a:t>
            </a:r>
          </a:p>
          <a:p>
            <a:pPr lvl="1"/>
            <a:r>
              <a:rPr lang="cs-CZ" sz="2400" dirty="0"/>
              <a:t>Usnadnění hledání práce po studiu</a:t>
            </a:r>
          </a:p>
          <a:p>
            <a:r>
              <a:rPr lang="cs-CZ" sz="2400" dirty="0"/>
              <a:t>Pro kraj:</a:t>
            </a:r>
          </a:p>
          <a:p>
            <a:pPr lvl="1"/>
            <a:r>
              <a:rPr lang="cs-CZ" sz="2400" dirty="0"/>
              <a:t>Sledování dopadu přidání/odebrání oboru z dané školy</a:t>
            </a:r>
          </a:p>
          <a:p>
            <a:pPr lvl="1"/>
            <a:r>
              <a:rPr lang="cs-CZ" sz="2400" dirty="0"/>
              <a:t>Propojení dovedností ze školy se zaměstnáním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17618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456828-3EFD-3467-FD66-20ED9C71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 err="1"/>
              <a:t>PoužIté</a:t>
            </a:r>
            <a:r>
              <a:rPr lang="cs-CZ" sz="4000" dirty="0"/>
              <a:t> datové sady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639F18-E2EC-0E18-C726-8FBC76017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820400" cy="4351338"/>
          </a:xfrm>
        </p:spPr>
        <p:txBody>
          <a:bodyPr>
            <a:normAutofit fontScale="92500" lnSpcReduction="20000"/>
          </a:bodyPr>
          <a:lstStyle/>
          <a:p>
            <a:r>
              <a:rPr lang="cs-CZ" sz="1600" dirty="0"/>
              <a:t>DATA ZÁPAD – Záměr počtu přijímaných uchazečů středních škol v Karlovarském kraji pro školní rok 2026/2027</a:t>
            </a:r>
          </a:p>
          <a:p>
            <a:r>
              <a:rPr lang="cs-CZ" sz="1600" dirty="0"/>
              <a:t>CERMAT – Přihlášky do škol-oborů, 1. kolo přijímacích zkoušek 2026</a:t>
            </a:r>
          </a:p>
          <a:p>
            <a:r>
              <a:rPr lang="cs-CZ" sz="1600" dirty="0"/>
              <a:t>MPSV – Volná místa za celou ČR</a:t>
            </a:r>
          </a:p>
          <a:p>
            <a:r>
              <a:rPr lang="cs-CZ" sz="1600" dirty="0"/>
              <a:t>Národní soustava povolání – API v1.2</a:t>
            </a:r>
          </a:p>
          <a:p>
            <a:r>
              <a:rPr lang="cs-CZ" sz="1600" dirty="0"/>
              <a:t>ČÚZK RÚIAN – adresní místa (</a:t>
            </a:r>
            <a:r>
              <a:rPr lang="cs-CZ" sz="1600" dirty="0" err="1"/>
              <a:t>ArcGIS</a:t>
            </a:r>
            <a:r>
              <a:rPr lang="cs-CZ" sz="1600" dirty="0"/>
              <a:t> REST)</a:t>
            </a:r>
          </a:p>
          <a:p>
            <a:r>
              <a:rPr lang="cs-CZ" sz="1600" dirty="0"/>
              <a:t>ČSÚ – Základní sídelní jednotky (RSO, Statistický </a:t>
            </a:r>
            <a:r>
              <a:rPr lang="cs-CZ" sz="1600" dirty="0" err="1"/>
              <a:t>geoportál</a:t>
            </a:r>
            <a:r>
              <a:rPr lang="cs-CZ" sz="1600" dirty="0"/>
              <a:t>)</a:t>
            </a:r>
          </a:p>
          <a:p>
            <a:r>
              <a:rPr lang="cs-CZ" sz="1600" dirty="0"/>
              <a:t>ČSÚ – Sčítání 2021: obyvatelé a byty za ZSJ</a:t>
            </a:r>
          </a:p>
          <a:p>
            <a:r>
              <a:rPr lang="cs-CZ" sz="1600" dirty="0"/>
              <a:t>ČSÚ – Sčítání 2021: obyvatelstvo podle pětiletých věkových skupin a pohlaví</a:t>
            </a:r>
          </a:p>
          <a:p>
            <a:r>
              <a:rPr lang="cs-CZ" sz="1600" dirty="0"/>
              <a:t>Jízdní řády vlaků – CZPTT → GTFS (</a:t>
            </a:r>
            <a:r>
              <a:rPr lang="cs-CZ" sz="1600" dirty="0" err="1"/>
              <a:t>JrUtil</a:t>
            </a:r>
            <a:r>
              <a:rPr lang="cs-CZ" sz="1600" dirty="0"/>
              <a:t>, 8. 10. 2026)</a:t>
            </a:r>
          </a:p>
          <a:p>
            <a:r>
              <a:rPr lang="cs-CZ" sz="1600" dirty="0"/>
              <a:t>Jízdní řády autobusů – CIS JŘ / JDF → GTFS (</a:t>
            </a:r>
            <a:r>
              <a:rPr lang="cs-CZ" sz="1600" dirty="0" err="1"/>
              <a:t>JrUtil</a:t>
            </a:r>
            <a:r>
              <a:rPr lang="cs-CZ" sz="1600" dirty="0"/>
              <a:t>, 8. 10. 2026)</a:t>
            </a:r>
          </a:p>
          <a:p>
            <a:r>
              <a:rPr lang="cs-CZ" sz="1600" dirty="0" err="1"/>
              <a:t>OpenStreetMap</a:t>
            </a:r>
            <a:r>
              <a:rPr lang="cs-CZ" sz="1600" dirty="0"/>
              <a:t> – Karlovarský kraj (</a:t>
            </a:r>
            <a:r>
              <a:rPr lang="cs-CZ" sz="1600" dirty="0" err="1"/>
              <a:t>Geofabrik</a:t>
            </a:r>
            <a:r>
              <a:rPr lang="cs-CZ" sz="1600" dirty="0"/>
              <a:t>)</a:t>
            </a:r>
          </a:p>
          <a:p>
            <a:r>
              <a:rPr lang="cs-CZ" sz="1600" dirty="0"/>
              <a:t>Hranice kraje – </a:t>
            </a:r>
            <a:r>
              <a:rPr lang="cs-CZ" sz="1600" dirty="0" err="1"/>
              <a:t>OpenStreetMap</a:t>
            </a:r>
            <a:r>
              <a:rPr lang="cs-CZ" sz="1600" dirty="0"/>
              <a:t> / </a:t>
            </a:r>
            <a:r>
              <a:rPr lang="cs-CZ" sz="1600" dirty="0" err="1"/>
              <a:t>Nominatim</a:t>
            </a:r>
            <a:endParaRPr lang="cs-CZ" sz="1600" dirty="0"/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78696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B7299-DC4F-06FA-4BEE-B0B88AA8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A9122C-0829-AE3D-2B8D-834AC39E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 err="1"/>
              <a:t>PoužIté</a:t>
            </a:r>
            <a:r>
              <a:rPr lang="cs-CZ" sz="4000" dirty="0"/>
              <a:t> Technologie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2F6220-55B1-F8CA-F89D-20A6600A9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820400" cy="4351338"/>
          </a:xfrm>
        </p:spPr>
        <p:txBody>
          <a:bodyPr>
            <a:normAutofit/>
          </a:bodyPr>
          <a:lstStyle/>
          <a:p>
            <a:endParaRPr lang="cs-CZ" dirty="0"/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BE604769-8604-0B10-7722-187636BA5BB9}"/>
              </a:ext>
            </a:extLst>
          </p:cNvPr>
          <p:cNvGrpSpPr/>
          <p:nvPr/>
        </p:nvGrpSpPr>
        <p:grpSpPr>
          <a:xfrm>
            <a:off x="342047" y="1593007"/>
            <a:ext cx="11507905" cy="2662813"/>
            <a:chOff x="343214" y="1345802"/>
            <a:chExt cx="11507905" cy="2662813"/>
          </a:xfrm>
        </p:grpSpPr>
        <p:pic>
          <p:nvPicPr>
            <p:cNvPr id="4" name="Obrázek 3" descr="File:Typescript logo 2020.svg - Wikimedia Commons">
              <a:extLst>
                <a:ext uri="{FF2B5EF4-FFF2-40B4-BE49-F238E27FC236}">
                  <a16:creationId xmlns:a16="http://schemas.microsoft.com/office/drawing/2014/main" id="{8743C57E-2ED3-BAA6-8642-692308BCD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3214" y="1345802"/>
              <a:ext cx="2662813" cy="2662813"/>
            </a:xfrm>
            <a:prstGeom prst="rect">
              <a:avLst/>
            </a:prstGeom>
          </p:spPr>
        </p:pic>
        <p:pic>
          <p:nvPicPr>
            <p:cNvPr id="5" name="Obrázek 4" descr="Soubor:Rust programming language black logo.svg – Wikipedie">
              <a:extLst>
                <a:ext uri="{FF2B5EF4-FFF2-40B4-BE49-F238E27FC236}">
                  <a16:creationId xmlns:a16="http://schemas.microsoft.com/office/drawing/2014/main" id="{AB0C12E7-C8FA-13E3-79B3-836C107FF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6468" y="1345802"/>
              <a:ext cx="2662813" cy="2662813"/>
            </a:xfrm>
            <a:prstGeom prst="rect">
              <a:avLst/>
            </a:prstGeom>
          </p:spPr>
        </p:pic>
        <p:pic>
          <p:nvPicPr>
            <p:cNvPr id="6" name="Obrázek 5" descr="Postgresql plain wordmark logo - free Icon PNG, SVG, ICO, ICNS | Icon-Icons">
              <a:extLst>
                <a:ext uri="{FF2B5EF4-FFF2-40B4-BE49-F238E27FC236}">
                  <a16:creationId xmlns:a16="http://schemas.microsoft.com/office/drawing/2014/main" id="{C923E054-C1AB-1DC8-683D-9029379FD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29722" y="1345802"/>
              <a:ext cx="2662812" cy="2662812"/>
            </a:xfrm>
            <a:prstGeom prst="rect">
              <a:avLst/>
            </a:prstGeom>
          </p:spPr>
        </p:pic>
        <p:pic>
          <p:nvPicPr>
            <p:cNvPr id="11" name="Obrázek 10" descr="OpenTripPlanner Open Days 2023 in Valencia – gvSIG blog">
              <a:extLst>
                <a:ext uri="{FF2B5EF4-FFF2-40B4-BE49-F238E27FC236}">
                  <a16:creationId xmlns:a16="http://schemas.microsoft.com/office/drawing/2014/main" id="{1802AF45-6822-9F4F-3233-DAF52E9EF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72975" y="1345802"/>
              <a:ext cx="2978144" cy="2662812"/>
            </a:xfrm>
            <a:prstGeom prst="rect">
              <a:avLst/>
            </a:prstGeom>
          </p:spPr>
        </p:pic>
      </p:grpSp>
      <p:pic>
        <p:nvPicPr>
          <p:cNvPr id="7" name="Obrázek 6" descr="Soubor:Docker Logo.png – Wikipedie">
            <a:extLst>
              <a:ext uri="{FF2B5EF4-FFF2-40B4-BE49-F238E27FC236}">
                <a16:creationId xmlns:a16="http://schemas.microsoft.com/office/drawing/2014/main" id="{98FB7AA7-8467-C216-2DFC-A9C7E1BFA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30" y="5525134"/>
            <a:ext cx="3834284" cy="872432"/>
          </a:xfrm>
          <a:prstGeom prst="rect">
            <a:avLst/>
          </a:prstGeom>
        </p:spPr>
      </p:pic>
      <p:pic>
        <p:nvPicPr>
          <p:cNvPr id="10" name="Obrázek 9" descr="RESTful API Documentation: Swagger | by Suneet Bansal | Medium">
            <a:extLst>
              <a:ext uri="{FF2B5EF4-FFF2-40B4-BE49-F238E27FC236}">
                <a16:creationId xmlns:a16="http://schemas.microsoft.com/office/drawing/2014/main" id="{AC9897B0-8D00-D82B-D861-F034B5F05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4784" y="4337755"/>
            <a:ext cx="3555677" cy="995590"/>
          </a:xfrm>
          <a:prstGeom prst="rect">
            <a:avLst/>
          </a:prstGeom>
        </p:spPr>
      </p:pic>
      <p:pic>
        <p:nvPicPr>
          <p:cNvPr id="13" name="Obrázek 12" descr="File:Python-logo-notext.svg - Wikimedia Commons">
            <a:extLst>
              <a:ext uri="{FF2B5EF4-FFF2-40B4-BE49-F238E27FC236}">
                <a16:creationId xmlns:a16="http://schemas.microsoft.com/office/drawing/2014/main" id="{F40CF5E4-9C82-6913-E0A4-89FBD2BED5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7943" y="4448003"/>
            <a:ext cx="1322776" cy="1322776"/>
          </a:xfrm>
          <a:prstGeom prst="rect">
            <a:avLst/>
          </a:prstGeom>
        </p:spPr>
      </p:pic>
      <p:pic>
        <p:nvPicPr>
          <p:cNvPr id="16" name="Obrázek 15" descr="GitHub Logo, symbol, meaning, history, PNG, brand">
            <a:extLst>
              <a:ext uri="{FF2B5EF4-FFF2-40B4-BE49-F238E27FC236}">
                <a16:creationId xmlns:a16="http://schemas.microsoft.com/office/drawing/2014/main" id="{3EA08EDF-A2B2-6B8E-E2A0-2BB9FA13D3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1088" y="4529939"/>
            <a:ext cx="3093673" cy="1740191"/>
          </a:xfrm>
          <a:prstGeom prst="rect">
            <a:avLst/>
          </a:prstGeom>
        </p:spPr>
      </p:pic>
      <p:pic>
        <p:nvPicPr>
          <p:cNvPr id="17" name="Obrázek 16" descr="Logos Download | Inkscape">
            <a:extLst>
              <a:ext uri="{FF2B5EF4-FFF2-40B4-BE49-F238E27FC236}">
                <a16:creationId xmlns:a16="http://schemas.microsoft.com/office/drawing/2014/main" id="{4E464A88-97DE-1E4C-A55E-BF862FA855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2484" y="5333345"/>
            <a:ext cx="2417520" cy="1498379"/>
          </a:xfrm>
          <a:prstGeom prst="rect">
            <a:avLst/>
          </a:prstGeom>
        </p:spPr>
      </p:pic>
      <p:pic>
        <p:nvPicPr>
          <p:cNvPr id="18" name="Obrázek 17" descr="React Logo - PNG Logo Vector Brand Downloads (SVG, EPS)">
            <a:extLst>
              <a:ext uri="{FF2B5EF4-FFF2-40B4-BE49-F238E27FC236}">
                <a16:creationId xmlns:a16="http://schemas.microsoft.com/office/drawing/2014/main" id="{C7B3931D-A9E2-7221-B341-F4C5F4E967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890" y="4065275"/>
            <a:ext cx="3093673" cy="174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7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872287-BAC1-F28B-3C61-D9579031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B96CC3-1D09-F5A3-62CC-4E30E87230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1" anchor="ctr"/>
          <a:lstStyle/>
          <a:p>
            <a:pPr algn="ctr"/>
            <a:r>
              <a:rPr lang="cs-CZ" dirty="0"/>
              <a:t>ukázka</a:t>
            </a:r>
          </a:p>
        </p:txBody>
      </p:sp>
    </p:spTree>
    <p:extLst>
      <p:ext uri="{BB962C8B-B14F-4D97-AF65-F5344CB8AC3E}">
        <p14:creationId xmlns:p14="http://schemas.microsoft.com/office/powerpoint/2010/main" val="4268492450"/>
      </p:ext>
    </p:extLst>
  </p:cSld>
  <p:clrMapOvr>
    <a:masterClrMapping/>
  </p:clrMapOvr>
</p:sld>
</file>

<file path=ppt/theme/theme1.xml><?xml version="1.0" encoding="utf-8"?>
<a:theme xmlns:a="http://schemas.openxmlformats.org/drawingml/2006/main" name="Řádky">
  <a:themeElements>
    <a:clrScheme name="Řádky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267</TotalTime>
  <Words>178</Words>
  <Application>Microsoft Office PowerPoint</Application>
  <PresentationFormat>Širokoúhlá obrazovka</PresentationFormat>
  <Paragraphs>24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Aptos</vt:lpstr>
      <vt:lpstr>Arial</vt:lpstr>
      <vt:lpstr>Arial Nova Light</vt:lpstr>
      <vt:lpstr>Univers Condensed</vt:lpstr>
      <vt:lpstr>Řádky</vt:lpstr>
      <vt:lpstr>Obor na dosah</vt:lpstr>
      <vt:lpstr>Hlavní myšlenka</vt:lpstr>
      <vt:lpstr>PoužIté datové sady</vt:lpstr>
      <vt:lpstr>PoužIté Technologie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Vladan Trhlík</dc:creator>
  <cp:lastModifiedBy>Vladan Trhlík</cp:lastModifiedBy>
  <cp:revision>1</cp:revision>
  <dcterms:created xsi:type="dcterms:W3CDTF">2026-10-10T09:55:47Z</dcterms:created>
  <dcterms:modified xsi:type="dcterms:W3CDTF">2026-10-10T14:23:00Z</dcterms:modified>
</cp:coreProperties>
</file>